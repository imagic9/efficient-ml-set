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WILDLIFE TRIGGER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30632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Bobcat shutter trigger on a Raspberry Pi — MobileNetV2 quantized to INT8, deployed in C++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2.27× faster on-device</a:t>
            </a:r>
            <a:pPr indent="0" marL="0">
              <a:buNone/>
            </a:pPr>
            <a:r>
              <a:rPr lang="en-US" sz="1600" dirty="0">
                <a:solidFill>
                  <a:srgbClr val="9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20.4 → 46.3 FPS  ·  3.5× smaller  ·  accuracy-equivalent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A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Vadym (imagic9)   ·   Efficient ML final project   ·   SET University   ·   2026-07-20</a:t>
            </a:r>
            <a:endParaRPr lang="en-US" sz="1250" dirty="0"/>
          </a:p>
        </p:txBody>
      </p:sp>
      <p:pic>
        <p:nvPicPr>
          <p:cNvPr id="6" name="Image 0" descr="/Users/vadym/Documents/2026/SET_University/Home_Works/EfficientML/final_project/slides/assets/repo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4892040"/>
            <a:ext cx="1417320" cy="1417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84080" y="6309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github.com/imagic9/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efficient-ml-set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3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Edge AI: the shutter must decide locally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cloud, no signal in the field — the model runs on the device itself.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14884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1945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🔋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2628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/ CPU-only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26280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GPU. A small INT8 model that sips power and fits on an SD card.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14884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1945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⚡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2960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29600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up with a camera-trap burst — a decision every few tens of ms.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artifact is a CPU-only C++ inference engine that fires SHUTTER_TRIGGER only when a bobcat is present.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MAPPING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3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engineering question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14312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on-device speedup can INT8 quantization + structured pruning buy for a MobileNetV2 wildlife classifier — </a:t>
            </a:r>
            <a:pPr indent="0" marL="0">
              <a:buNone/>
            </a:pPr>
            <a:r>
              <a:rPr lang="en-US" sz="2100" b="1" dirty="0">
                <a:solidFill>
                  <a:srgbClr val="E0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does it cost accuracy?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5478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optimization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904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PTQ · QAT · structured pruning, justified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34290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35478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inference implementation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3904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CPU EP, parity-tested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599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&amp; metrics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9560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optimized on the real 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44805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599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analysis &amp; presentation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49560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/ what didn't / next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4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2.27× faster, 3.5× smaller, no accuracy cost (better in-distribution).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3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CCT-20 · bobcat target · leakage controls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0992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57,864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5328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· 16 classes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6002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70992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7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bobcat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83280" y="25328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target (idx 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16002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70992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E9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0.5775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80760" y="25328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probe (≈0.50)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41080" y="16002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170992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256×192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778240" y="25328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· +31% real pixels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/ trans split — same cameras vs new locations (the hard generalization test).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fingerprinted: 224 seqs / 270 imgs / 10 bobcat overlap → all decisions use cis_val_clean (3,214 imgs / 144 bobcat).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supplement: 5,000 frames, location-disjoint, downsized ≤1024 px so resolution is not a shortcut for 'empty'.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frames excluded from cross-entropy, kept for target-presence. Gate B passed 43/43.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&amp;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3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MobileNetV2 baseline → C++ inference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669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ImageNet-pretrained MobileNetV2 (width 1.0), 16 outputs, input 256×192.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Effective-number weighted CE; two-phase head→full fine-tuning (seed 42).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calibrated on validation inside a 5% false-fire budget (§6.3).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only for training/export — inference is C++ + ONNX Runtime CPU EP.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0" y="18288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0" y="23774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9B5B"/>
                </a:solidFill>
              </a:rPr>
              <a:t>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0" y="2542032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254203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0" y="3090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9B5B"/>
                </a:solidFill>
              </a:rPr>
              <a:t>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0" y="3255264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325526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256×192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0" y="38039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9B5B"/>
                </a:solidFill>
              </a:rPr>
              <a:t>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3968496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396849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EP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0" y="451713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9B5B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4681728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468172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(threshold)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86800" y="5230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9B5B"/>
                </a:solidFill>
              </a:rPr>
              <a:t>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539496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E0912F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53949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SHUTTER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LADDER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3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PTQ · QAT · structured pruning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577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286000"/>
                <a:gridCol w="1005840"/>
                <a:gridCol w="82296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FP32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293M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 PTQ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293M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 QAT ✓final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293M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pruned FP32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pruned+QAT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06240"/>
            <a:ext cx="5577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(PTQ) — pre-registered negative: depthwise MobileNetV2 loses accuracy.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(QAT) — most accurate; recovers the PTQ loss.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M3/M4 pruning — 30% fewer MACs (widths rounded to ×8 first).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= M2 by rule §8.4: a more complex stack must be more accurate to win — M4 isn't.</a:t>
            </a:r>
            <a:endParaRPr lang="en-US" sz="1250" dirty="0"/>
          </a:p>
        </p:txBody>
      </p:sp>
      <p:pic>
        <p:nvPicPr>
          <p:cNvPr id="6" name="Image 0" descr="/Users/vadym/Documents/2026/SET_University/Home_Works/EfficientML/final_project/results/analysis/figures/ladder_accuracy_vs_siz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691640"/>
            <a:ext cx="52120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3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Correctness &amp; reproducibility before performance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preprocessing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86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↔ Python golden tensors: 0.0 / 7e-7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0116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18745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· P3 · P4 parity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286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ORT = Python ORT; run-dataset confusion identical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3832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246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QEMU cortex-a76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657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vs emulated bit-identical (M0/M2/M4)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0632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3832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3246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 ↔ gx10 parity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3657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bit-identical on the CM5 — target equivalence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7548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4617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50292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vs F5 within ±3.5%; seeds 17/42/73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4434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7548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32320" y="4617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Fail-closed preflight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32320" y="50292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non-aarch64 / non-Ubuntu-24.04 / no asimddp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performance number below sits on a passed correctness gate.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3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the bobcat operating point (frozen test, opened once)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577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914400"/>
                <a:gridCol w="109728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cis-test F2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trans-test F2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 FP32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QAT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66160"/>
            <a:ext cx="5669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In-distribution (cis-test): M2 BEATS the FP32 baseline — captures 85.8% of bobcat visits vs 76.7%, at equal 5.5% false-fire.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locations (trans-test): both drop to ~35–40% capture — the honest domain-shift limitation, reported not hidden.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stay recall_floor_infeasible: ships the best admissible threshold, never claims the 90% floor is met.</a:t>
            </a:r>
            <a:endParaRPr lang="en-US" sz="1250" dirty="0"/>
          </a:p>
        </p:txBody>
      </p:sp>
      <p:pic>
        <p:nvPicPr>
          <p:cNvPr id="6" name="Image 0" descr="/Users/vadym/Documents/2026/SET_University/Home_Works/EfficientML/final_project/results/analysis/figures/confusion_frozen_t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69164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THAT COUNTS (DESIGN §12.4)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3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On-device: baseline vs optimized — real Raspberry Pi CM5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0992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2.27×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5328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end-to-end (M0 → M2)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0" y="160020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70992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7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 → 46.3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251960" y="25328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(frozen, threads=1)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80960" y="160020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5F7F3"/>
          </a:solidFill>
          <a:ln w="12700">
            <a:solidFill>
              <a:srgbClr val="E3E8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170992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3.5×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818120" y="25328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smaller: 8.95 → 2.54 MB</a:t>
            </a:r>
            <a:endParaRPr lang="en-US" sz="1150" dirty="0"/>
          </a:p>
        </p:txBody>
      </p:sp>
      <p:pic>
        <p:nvPicPr>
          <p:cNvPr id="13" name="Image 0" descr="/Users/vadym/Documents/2026/SET_University/Home_Works/EfficientML/final_project/results/analysis/figures/pi_latency_f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0" y="3200400"/>
            <a:ext cx="7772400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CM5 · Cortex-A76 @ 2.4 GHz · performance governor · no throttling · 3 reps ×≥1000 iters · Pi↔gx10 bit-identical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3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Pareto front &amp; where the time goes</a:t>
            </a:r>
            <a:endParaRPr lang="en-US" sz="3200" dirty="0"/>
          </a:p>
        </p:txBody>
      </p:sp>
      <p:pic>
        <p:nvPicPr>
          <p:cNvPr id="4" name="Image 0" descr="/Users/vadym/Documents/2026/SET_University/Home_Works/EfficientML/final_project/results/analysis/figures/pareto_accuracy_latenc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5394960" cy="3840480"/>
          </a:xfrm>
          <a:prstGeom prst="rect">
            <a:avLst/>
          </a:prstGeom>
        </p:spPr>
      </p:pic>
      <p:pic>
        <p:nvPicPr>
          <p:cNvPr id="5" name="Image 1" descr="/Users/vadym/Documents/2026/SET_University/Home_Works/EfficientML/final_project/results/analysis/figures/pi_stage_breakdow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645920"/>
            <a:ext cx="5303520" cy="384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623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is 85% of the FP32 pipeline and collapses 4× under INT8 — the bottleneck shifts to the fixed ~6 ms JPEG decode. </a:t>
            </a:r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4-core A76 threads=3 is optimal — the opposite of the 20-core gx10.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3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worked · what didn't ·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1E6E0"/>
            </a:solidFill>
            <a:prstDash val="solid"/>
          </a:ln>
          <a:effectLst>
            <a:outerShdw sx="100000" sy="100000" kx="0" ky="0" algn="bl" rotWithShape="0" blurRad="76200" dist="25400" dir="5400000">
              <a:srgbClr val="D8DDD7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7452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423160"/>
            <a:ext cx="31181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QAT: 2.27× on-device, 3.5× smaller, no accuracy cost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C++/ORT parity exact — Pi↔gx10 bit-identical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 rehearsal de-risked the one-shot rental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on Pi: +1.25× (target-specific)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6916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1E6E0"/>
            </a:solidFill>
            <a:prstDash val="solid"/>
          </a:ln>
          <a:effectLst>
            <a:outerShdw sx="100000" sy="100000" kx="0" ky="0" algn="bl" rotWithShape="0" blurRad="76200" dist="25400" dir="5400000">
              <a:srgbClr val="D8DDD7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53128" y="187452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didn't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53128" y="2423160"/>
            <a:ext cx="31181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Trans-domain recall poor (~35–40% capture)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recall floor infeasible in the 5% budget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PTQ (M1) — pre-registered negative result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(M4) not more accurate → not selected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6916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1E6E0"/>
            </a:solidFill>
            <a:prstDash val="solid"/>
          </a:ln>
          <a:effectLst>
            <a:outerShdw sx="100000" sy="100000" kx="0" ky="0" algn="bl" rotWithShape="0" blurRad="76200" dist="25400" dir="5400000">
              <a:srgbClr val="D8DDD7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56448" y="187452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56448" y="2423160"/>
            <a:ext cx="31181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Pi: no camera, no GPIO, no power meter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Shutter is an emulated JSON signal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 domain; weak on unseen sites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badger/deer/fox: null thresholds (no support)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 are measured and reported — nothing is hidden (DESIGN §18 decision rules).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&amp; next steps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2.27× faster  ·  46.3 FPS  ·  3.5× smaller  ·  </a:t>
            </a:r>
            <a:pPr indent="0" marL="0">
              <a:buNone/>
            </a:pPr>
            <a:r>
              <a:rPr lang="en-US" sz="19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accuracy-equivalent on the real Raspberry Pi CM5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2468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decode bottleneck  </a:t>
            </a:r>
            <a:pPr indent="0" marL="0">
              <a:buNone/>
            </a:pPr>
            <a:r>
              <a:rPr lang="en-US" sz="1500" dirty="0">
                <a:solidFill>
                  <a:srgbClr val="9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inference no longer dominates — attack the ~6 ms JPEG decode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34290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OOD generalization  </a:t>
            </a:r>
            <a:pPr indent="0" marL="0">
              <a:buNone/>
            </a:pPr>
            <a:r>
              <a:rPr lang="en-US" sz="1500" dirty="0">
                <a:solidFill>
                  <a:srgbClr val="9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more locations, TTA, or crop-teacher KD (Phase 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4389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integration  </a:t>
            </a:r>
            <a:pPr indent="0" marL="0">
              <a:buNone/>
            </a:pPr>
            <a:r>
              <a:rPr lang="en-US" sz="1500" dirty="0">
                <a:solidFill>
                  <a:srgbClr val="9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wire GPIO shutter + on-device power (Joules/decision)</a:t>
            </a:r>
            <a:endParaRPr lang="en-US" sz="1500" dirty="0"/>
          </a:p>
        </p:txBody>
      </p:sp>
      <p:pic>
        <p:nvPicPr>
          <p:cNvPr id="13" name="Image 0" descr="/Users/vadym/Documents/2026/SET_University/Home_Works/EfficientML/final_project/slides/assets/repo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560320"/>
            <a:ext cx="1828800" cy="1828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05256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github.com/imagic9/efficient-ml-set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Vadym (imagic9) · Efficient ML · SET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2026-07-20T16:27:38Z</dcterms:created>
  <dcterms:modified xsi:type="dcterms:W3CDTF">2026-07-20T16:27:38Z</dcterms:modified>
</cp:coreProperties>
</file>